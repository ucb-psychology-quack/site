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c252159c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c252159c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c252159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c252159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c252159c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c252159c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92ed7269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92ed7269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92ed7269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92ed7269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c3d7d95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c3d7d95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b4477c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3b4477c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b4477c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3b4477c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326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50" y="-9325"/>
            <a:ext cx="9144000" cy="5143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9919" l="17191" r="17491" t="6934"/>
          <a:stretch/>
        </p:blipFill>
        <p:spPr>
          <a:xfrm>
            <a:off x="3877050" y="1114675"/>
            <a:ext cx="1389901" cy="13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0" y="2063625"/>
            <a:ext cx="8520600" cy="17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748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50" y="-9325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311700" y="2063625"/>
            <a:ext cx="8520600" cy="17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200"/>
              <a:buNone/>
              <a:defRPr sz="42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4820E"/>
              </a:buClr>
              <a:buSzPts val="5200"/>
              <a:buNone/>
              <a:defRPr sz="5200">
                <a:solidFill>
                  <a:srgbClr val="C4820E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1700" y="3748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400"/>
              <a:buNone/>
              <a:defRPr sz="2400">
                <a:solidFill>
                  <a:srgbClr val="00326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sz="2800">
                <a:solidFill>
                  <a:srgbClr val="003262"/>
                </a:solidFill>
              </a:defRPr>
            </a:lvl9pPr>
          </a:lstStyle>
          <a:p/>
        </p:txBody>
      </p:sp>
      <p:pic>
        <p:nvPicPr>
          <p:cNvPr id="21" name="Google Shape;21;p3" title="Berkeley_Seal_HEX 003057 BerkeleyBlue.png"/>
          <p:cNvPicPr preferRelativeResize="0"/>
          <p:nvPr/>
        </p:nvPicPr>
        <p:blipFill rotWithShape="1">
          <a:blip r:embed="rId2">
            <a:alphaModFix/>
          </a:blip>
          <a:srcRect b="0" l="-2859" r="0" t="0"/>
          <a:stretch/>
        </p:blipFill>
        <p:spPr>
          <a:xfrm>
            <a:off x="3877925" y="1113600"/>
            <a:ext cx="1388149" cy="134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 b="1">
                <a:solidFill>
                  <a:srgbClr val="0032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None/>
              <a:defRPr>
                <a:solidFill>
                  <a:srgbClr val="003262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326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-62125" y="-25900"/>
            <a:ext cx="9265800" cy="5256300"/>
          </a:xfrm>
          <a:prstGeom prst="rect">
            <a:avLst/>
          </a:prstGeom>
          <a:solidFill>
            <a:srgbClr val="3B7E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9" title="UCB_Horizontal UDARWHT.png"/>
          <p:cNvPicPr preferRelativeResize="0"/>
          <p:nvPr/>
        </p:nvPicPr>
        <p:blipFill rotWithShape="1">
          <a:blip r:embed="rId2">
            <a:alphaModFix/>
          </a:blip>
          <a:srcRect b="398" l="0" r="-20" t="0"/>
          <a:stretch/>
        </p:blipFill>
        <p:spPr>
          <a:xfrm>
            <a:off x="633124" y="4663213"/>
            <a:ext cx="1527050" cy="27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3250" y="1830825"/>
            <a:ext cx="480445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109250"/>
            <a:ext cx="6385500" cy="33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 type="blank">
  <p:cSld name="BLANK">
    <p:bg>
      <p:bgPr>
        <a:solidFill>
          <a:srgbClr val="00326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62125" y="-25900"/>
            <a:ext cx="9265800" cy="5282700"/>
          </a:xfrm>
          <a:prstGeom prst="rect">
            <a:avLst/>
          </a:prstGeom>
          <a:solidFill>
            <a:srgbClr val="C482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3"/>
          <p:cNvSpPr txBox="1"/>
          <p:nvPr>
            <p:ph type="title"/>
          </p:nvPr>
        </p:nvSpPr>
        <p:spPr>
          <a:xfrm>
            <a:off x="490250" y="109250"/>
            <a:ext cx="6385500" cy="33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2" name="Google Shape;6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93250" y="1754625"/>
            <a:ext cx="480445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UCB_Horizontal UDARWHT.png"/>
          <p:cNvPicPr preferRelativeResize="0"/>
          <p:nvPr/>
        </p:nvPicPr>
        <p:blipFill rotWithShape="1">
          <a:blip r:embed="rId3">
            <a:alphaModFix/>
          </a:blip>
          <a:srcRect b="398" l="0" r="-20" t="0"/>
          <a:stretch/>
        </p:blipFill>
        <p:spPr>
          <a:xfrm>
            <a:off x="633124" y="4663213"/>
            <a:ext cx="1527050" cy="27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800"/>
              <a:buFont typeface="Open Sans"/>
              <a:buNone/>
              <a:defRPr sz="2800">
                <a:solidFill>
                  <a:srgbClr val="00326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Open Sans"/>
              <a:buChar char="●"/>
              <a:defRPr sz="1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●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Char char="○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434343"/>
              </a:buClr>
              <a:buSzPts val="1400"/>
              <a:buFont typeface="Open Sans"/>
              <a:buChar char="■"/>
              <a:defRPr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1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2"/>
                </a:solidFill>
              </a:defRPr>
            </a:lvl1pPr>
            <a:lvl2pPr lvl="1">
              <a:buNone/>
              <a:defRPr sz="1000">
                <a:solidFill>
                  <a:schemeClr val="dk2"/>
                </a:solidFill>
              </a:defRPr>
            </a:lvl2pPr>
            <a:lvl3pPr lvl="2">
              <a:buNone/>
              <a:defRPr sz="1000">
                <a:solidFill>
                  <a:schemeClr val="dk2"/>
                </a:solidFill>
              </a:defRPr>
            </a:lvl3pPr>
            <a:lvl4pPr lvl="3">
              <a:buNone/>
              <a:defRPr sz="1000">
                <a:solidFill>
                  <a:schemeClr val="dk2"/>
                </a:solidFill>
              </a:defRPr>
            </a:lvl4pPr>
            <a:lvl5pPr lvl="4">
              <a:buNone/>
              <a:defRPr sz="1000">
                <a:solidFill>
                  <a:schemeClr val="dk2"/>
                </a:solidFill>
              </a:defRPr>
            </a:lvl5pPr>
            <a:lvl6pPr lvl="5">
              <a:buNone/>
              <a:defRPr sz="1000">
                <a:solidFill>
                  <a:schemeClr val="dk2"/>
                </a:solidFill>
              </a:defRPr>
            </a:lvl6pPr>
            <a:lvl7pPr lvl="6">
              <a:buNone/>
              <a:defRPr sz="1000">
                <a:solidFill>
                  <a:schemeClr val="dk2"/>
                </a:solidFill>
              </a:defRPr>
            </a:lvl7pPr>
            <a:lvl8pPr lvl="7">
              <a:buNone/>
              <a:defRPr sz="1000">
                <a:solidFill>
                  <a:schemeClr val="dk2"/>
                </a:solidFill>
              </a:defRPr>
            </a:lvl8pPr>
            <a:lvl9pPr lvl="8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UCB_Horizontal UDAR540.png"/>
          <p:cNvPicPr preferRelativeResize="0"/>
          <p:nvPr/>
        </p:nvPicPr>
        <p:blipFill rotWithShape="1">
          <a:blip r:embed="rId1">
            <a:alphaModFix/>
          </a:blip>
          <a:srcRect b="-31779" l="-2712" r="-2407" t="-31779"/>
          <a:stretch/>
        </p:blipFill>
        <p:spPr>
          <a:xfrm>
            <a:off x="7022200" y="4460525"/>
            <a:ext cx="1600548" cy="46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r-graph-gallery.com/192-ggplot-themes.html" TargetMode="External"/><Relationship Id="rId4" Type="http://schemas.openxmlformats.org/officeDocument/2006/relationships/hyperlink" Target="https://github.com/Mikata-Project/ggthemr#palettes" TargetMode="External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-graph-gallery.com/ggplot2-color.html" TargetMode="External"/><Relationship Id="rId4" Type="http://schemas.openxmlformats.org/officeDocument/2006/relationships/hyperlink" Target="https://r-graph-gallery.com/color-palette-finder" TargetMode="External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data-to-viz.com/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inyurl.com/quack-fall2025-exit-survey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311700" y="2063625"/>
            <a:ext cx="8520600" cy="17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Welcome to QuACK!</a:t>
            </a:r>
            <a:endParaRPr b="1"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311700" y="3748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10/06/2025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Nina, Sophie, Alyson, and Victoria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450" y="113000"/>
            <a:ext cx="1784400" cy="1758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Today’s Agenda: Plotting (cont.)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Warm-up activity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Themes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Color/Fill Brewer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Demo: data visualization + bootstrapping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t's all going according to plan... (Provided by Tenor)"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700" y="261552"/>
            <a:ext cx="2486700" cy="1894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Week 3 Warm-up – 10 minutes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75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Download this week’s materials from this link: </a:t>
            </a:r>
            <a:r>
              <a:rPr lang="en" sz="1700"/>
              <a:t>https://tinyurl.com/quack-fall2025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Open the practice PDF from </a:t>
            </a:r>
            <a:r>
              <a:rPr b="1" lang="en" sz="1700">
                <a:solidFill>
                  <a:schemeClr val="dk1"/>
                </a:solidFill>
              </a:rPr>
              <a:t>last week</a:t>
            </a:r>
            <a:r>
              <a:rPr lang="en" sz="1700">
                <a:solidFill>
                  <a:schemeClr val="dk1"/>
                </a:solidFill>
              </a:rPr>
              <a:t> (session 4)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If you did the practice exercises during last week’s session, refresh your memory on what you did and what the answers were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If you didn’t get a chance last week, try the practice exercises now!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8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Themes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built-in ggplot themes (see here: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https://r-graph-gallery.com/192-ggplot-themes.html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themes here: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https://github.com/Mikata-Project/ggthemr#palettes</a:t>
            </a:r>
            <a:endParaRPr/>
          </a:p>
        </p:txBody>
      </p:sp>
      <p:pic>
        <p:nvPicPr>
          <p:cNvPr id="90" name="Google Shape;90;p17" title="Screenshot 2025-10-05 at 1.41.1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650" y="2510825"/>
            <a:ext cx="6043552" cy="199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Color Palettes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options: 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 color/fill brewer 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Scale Color Brewer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Palletteer 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Color Palette Finder</a:t>
            </a:r>
            <a:r>
              <a:rPr lang="en"/>
              <a:t> </a:t>
            </a:r>
            <a:endParaRPr/>
          </a:p>
        </p:txBody>
      </p:sp>
      <p:pic>
        <p:nvPicPr>
          <p:cNvPr id="97" name="Google Shape;97;p18" title="Screenshot 2025-10-05 at 1.41.5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1225" y="518275"/>
            <a:ext cx="4362776" cy="462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helpful dataviz resource: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https://www.data-to-viz.com/</a:t>
            </a:r>
            <a:endParaRPr sz="15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1512" y="119507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Time to get started in R!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https://tinyurl.com/quack-fall2025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and unzip the course materials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see many files: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R Markdown (.rmd) files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.csv file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PDF files – slides and a practice doc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other folders – ignore these for now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the R Markdown file marked “starter_code” – this is where we will code together for the first part of the session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.csv file contains the data we will be working with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practice PDF contains practice exercises for you to do during the second part of the session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1225" y="102500"/>
            <a:ext cx="1784400" cy="1758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1" name="Google Shape;111;p20" title="quack-fall2025-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0325" y="445025"/>
            <a:ext cx="2126725" cy="21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Ticket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https://tinyurl.com/quack-fall2025-exit-survey</a:t>
            </a:r>
            <a:endParaRPr/>
          </a:p>
        </p:txBody>
      </p:sp>
      <p:pic>
        <p:nvPicPr>
          <p:cNvPr id="118" name="Google Shape;118;p21" title="quack-fall2025-exit-survey-4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475" y="1857075"/>
            <a:ext cx="2513050" cy="25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B6770"/>
      </a:dk2>
      <a:lt2>
        <a:srgbClr val="EEEEEE"/>
      </a:lt2>
      <a:accent1>
        <a:srgbClr val="FDB515"/>
      </a:accent1>
      <a:accent2>
        <a:srgbClr val="003057"/>
      </a:accent2>
      <a:accent3>
        <a:srgbClr val="4F758B"/>
      </a:accent3>
      <a:accent4>
        <a:srgbClr val="C4820E"/>
      </a:accent4>
      <a:accent5>
        <a:srgbClr val="00B0DA"/>
      </a:accent5>
      <a:accent6>
        <a:srgbClr val="859438"/>
      </a:accent6>
      <a:hlink>
        <a:srgbClr val="20CBD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